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440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956048"/>
            <a:ext cx="2286000" cy="73152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4956048"/>
            <a:ext cx="2286000" cy="73152"/>
          </a:xfrm>
          <a:prstGeom prst="rect">
            <a:avLst/>
          </a:prstGeom>
          <a:solidFill>
            <a:srgbClr val="00E6A0"/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956048"/>
            <a:ext cx="2286000" cy="73152"/>
          </a:xfrm>
          <a:prstGeom prst="rect">
            <a:avLst/>
          </a:prstGeom>
          <a:solidFill>
            <a:srgbClr val="8844FF"/>
          </a:solidFill>
          <a:ln w="12700">
            <a:solidFill>
              <a:srgbClr val="884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4956048"/>
            <a:ext cx="2286000" cy="73152"/>
          </a:xfrm>
          <a:prstGeom prst="rect">
            <a:avLst/>
          </a:prstGeom>
          <a:solidFill>
            <a:srgbClr val="FF6644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822960"/>
            <a:ext cx="2377440" cy="292608"/>
          </a:xfrm>
          <a:prstGeom prst="rect">
            <a:avLst>
              <a:gd name="adj" fmla="val 15625"/>
            </a:avLst>
          </a:prstGeom>
          <a:solidFill>
            <a:srgbClr val="0A2040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822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AAFF"/>
                </a:solidFill>
              </a:rPr>
              <a:t>OPEN SOURCE PROJECT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1234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Incremental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502920" y="2011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502920" y="3017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9C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hands-on Azure Data Factory pipelines covering every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9C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major incremental load strategy — built step by step.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3931920"/>
            <a:ext cx="1234440" cy="274320"/>
          </a:xfrm>
          <a:prstGeom prst="rect">
            <a:avLst>
              <a:gd name="adj" fmla="val 10000"/>
            </a:avLst>
          </a:prstGeom>
          <a:solidFill>
            <a:srgbClr val="0078FF">
              <a:alpha val="20000"/>
            </a:srgbClr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931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8FF"/>
                </a:solidFill>
              </a:rPr>
              <a:t>Azure ADF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74520" y="3931920"/>
            <a:ext cx="1234440" cy="274320"/>
          </a:xfrm>
          <a:prstGeom prst="rect">
            <a:avLst>
              <a:gd name="adj" fmla="val 10000"/>
            </a:avLst>
          </a:prstGeom>
          <a:solidFill>
            <a:srgbClr val="00E6A0">
              <a:alpha val="20000"/>
            </a:srgbClr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74520" y="3931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A0"/>
                </a:solidFill>
              </a:rPr>
              <a:t>Azure SQL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46120" y="3931920"/>
            <a:ext cx="1234440" cy="274320"/>
          </a:xfrm>
          <a:prstGeom prst="rect">
            <a:avLst>
              <a:gd name="adj" fmla="val 10000"/>
            </a:avLst>
          </a:prstGeom>
          <a:solidFill>
            <a:srgbClr val="FF6644">
              <a:alpha val="20000"/>
            </a:srgbClr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931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644"/>
                </a:solidFill>
              </a:rPr>
              <a:t>GitHub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4389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github.com/Acrenox/adf-incremental-dataload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92240" y="1005840"/>
            <a:ext cx="2468880" cy="658368"/>
          </a:xfrm>
          <a:prstGeom prst="rect">
            <a:avLst/>
          </a:prstGeom>
          <a:solidFill>
            <a:srgbClr val="0F1F35"/>
          </a:solidFill>
          <a:ln w="12700">
            <a:solidFill>
              <a:srgbClr val="00A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92240" y="1005840"/>
            <a:ext cx="45720" cy="65836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1024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65392" y="1280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Watermark-Based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92240" y="1965960"/>
            <a:ext cx="2468880" cy="658368"/>
          </a:xfrm>
          <a:prstGeom prst="rect">
            <a:avLst/>
          </a:prstGeom>
          <a:solidFill>
            <a:srgbClr val="0F1F35"/>
          </a:solidFill>
          <a:ln w="12700">
            <a:solidFill>
              <a:srgbClr val="00E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92240" y="1965960"/>
            <a:ext cx="45720" cy="658368"/>
          </a:xfrm>
          <a:prstGeom prst="rect">
            <a:avLst/>
          </a:prstGeom>
          <a:solidFill>
            <a:srgbClr val="00E6A0"/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19842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65392" y="2240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Copy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92240" y="2926080"/>
            <a:ext cx="2468880" cy="658368"/>
          </a:xfrm>
          <a:prstGeom prst="rect">
            <a:avLst/>
          </a:prstGeom>
          <a:solidFill>
            <a:srgbClr val="0F1F35"/>
          </a:solidFill>
          <a:ln w="12700">
            <a:solidFill>
              <a:srgbClr val="884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92240" y="2926080"/>
            <a:ext cx="45720" cy="658368"/>
          </a:xfrm>
          <a:prstGeom prst="rect">
            <a:avLst/>
          </a:prstGeom>
          <a:solidFill>
            <a:srgbClr val="8844FF"/>
          </a:solidFill>
          <a:ln w="12700">
            <a:solidFill>
              <a:srgbClr val="8844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65392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Capture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92240" y="3886200"/>
            <a:ext cx="2468880" cy="658368"/>
          </a:xfrm>
          <a:prstGeom prst="rect">
            <a:avLst/>
          </a:prstGeom>
          <a:solidFill>
            <a:srgbClr val="0F1F35"/>
          </a:solidFill>
          <a:ln w="12700">
            <a:solidFill>
              <a:srgbClr val="FF66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92240" y="3886200"/>
            <a:ext cx="45720" cy="658368"/>
          </a:xfrm>
          <a:prstGeom prst="rect">
            <a:avLst/>
          </a:prstGeom>
          <a:solidFill>
            <a:srgbClr val="FF6644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65392" y="3904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65392" y="4160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+ GetMetadata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AFF"/>
                </a:solidFill>
              </a:rPr>
              <a:t>PROJECT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CB6"/>
                </a:solidFill>
              </a:rPr>
              <a:t>adf-incremental-dataload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0" cy="1463040"/>
          </a:xfrm>
          <a:prstGeom prst="rect">
            <a:avLst/>
          </a:prstGeom>
          <a:solidFill>
            <a:srgbClr val="0F1F35"/>
          </a:solidFill>
          <a:ln w="19050">
            <a:solidFill>
              <a:srgbClr val="007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011680" cy="54864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CB6"/>
                </a:solidFill>
              </a:rPr>
              <a:t>Source Tables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CB6"/>
                </a:solidFill>
              </a:rPr>
              <a:t>sales_orders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914400"/>
            <a:ext cx="2011680" cy="1463040"/>
          </a:xfrm>
          <a:prstGeom prst="rect">
            <a:avLst/>
          </a:prstGeom>
          <a:solidFill>
            <a:srgbClr val="0F1F35"/>
          </a:solidFill>
          <a:ln w="19050">
            <a:solidFill>
              <a:srgbClr val="00A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914400"/>
            <a:ext cx="201168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CB6"/>
                </a:solidFill>
              </a:rPr>
              <a:t>Pipelines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CB6"/>
                </a:solidFill>
              </a:rPr>
              <a:t>Datasets &amp; Linked Services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914400"/>
            <a:ext cx="2011680" cy="1463040"/>
          </a:xfrm>
          <a:prstGeom prst="rect">
            <a:avLst/>
          </a:prstGeom>
          <a:solidFill>
            <a:srgbClr val="0F1F35"/>
          </a:solidFill>
          <a:ln w="19050">
            <a:solidFill>
              <a:srgbClr val="00E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914400"/>
            <a:ext cx="2011680" cy="54864"/>
          </a:xfrm>
          <a:prstGeom prst="rect">
            <a:avLst/>
          </a:prstGeom>
          <a:solidFill>
            <a:srgbClr val="00E6A0"/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CB6"/>
                </a:solidFill>
              </a:rPr>
              <a:t>Sink Tables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CB6"/>
                </a:solidFill>
              </a:rPr>
              <a:t>4 project sinks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06640" y="914400"/>
            <a:ext cx="2011680" cy="1463040"/>
          </a:xfrm>
          <a:prstGeom prst="rect">
            <a:avLst/>
          </a:prstGeom>
          <a:solidFill>
            <a:srgbClr val="0F1F35"/>
          </a:solidFill>
          <a:ln w="19050">
            <a:solidFill>
              <a:srgbClr val="FF66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06640" y="914400"/>
            <a:ext cx="2011680" cy="54864"/>
          </a:xfrm>
          <a:prstGeom prst="rect">
            <a:avLst/>
          </a:prstGeom>
          <a:solidFill>
            <a:srgbClr val="FF6644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🐙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0664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CB6"/>
                </a:solidFill>
              </a:rPr>
              <a:t>adf-incremental-dataload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CB6"/>
                </a:solidFill>
              </a:rPr>
              <a:t>main &amp; dev branches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0" y="1645920"/>
            <a:ext cx="365760" cy="0"/>
          </a:xfrm>
          <a:prstGeom prst="line">
            <a:avLst/>
          </a:prstGeom>
          <a:noFill/>
          <a:ln w="19050">
            <a:solidFill>
              <a:srgbClr val="8B9C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1645920"/>
            <a:ext cx="365760" cy="0"/>
          </a:xfrm>
          <a:prstGeom prst="line">
            <a:avLst/>
          </a:prstGeom>
          <a:noFill/>
          <a:ln w="19050">
            <a:solidFill>
              <a:srgbClr val="8B9C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040880" y="1645920"/>
            <a:ext cx="365760" cy="0"/>
          </a:xfrm>
          <a:prstGeom prst="line">
            <a:avLst/>
          </a:prstGeom>
          <a:noFill/>
          <a:ln w="19050">
            <a:solidFill>
              <a:srgbClr val="8B9C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9CB6"/>
                </a:solidFill>
              </a:rPr>
              <a:t>DATABASE OBJECTS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926080"/>
            <a:ext cx="2057400" cy="685800"/>
          </a:xfrm>
          <a:prstGeom prst="rect">
            <a:avLst/>
          </a:prstGeom>
          <a:solidFill>
            <a:srgbClr val="0F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926080"/>
            <a:ext cx="45720" cy="68580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980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control.watermark_table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Project 1 — Timestamp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450592" y="2926080"/>
            <a:ext cx="2057400" cy="685800"/>
          </a:xfrm>
          <a:prstGeom prst="rect">
            <a:avLst/>
          </a:prstGeom>
          <a:solidFill>
            <a:srgbClr val="0F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50592" y="2926080"/>
            <a:ext cx="45720" cy="685800"/>
          </a:xfrm>
          <a:prstGeom prst="rect">
            <a:avLst/>
          </a:prstGeom>
          <a:solidFill>
            <a:srgbClr val="00E6A0"/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2032" y="2980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control.delta_watermark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542032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Project 2 — ID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26864" y="2926080"/>
            <a:ext cx="2057400" cy="685800"/>
          </a:xfrm>
          <a:prstGeom prst="rect">
            <a:avLst/>
          </a:prstGeom>
          <a:solidFill>
            <a:srgbClr val="0F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26864" y="2926080"/>
            <a:ext cx="45720" cy="685800"/>
          </a:xfrm>
          <a:prstGeom prst="rect">
            <a:avLst/>
          </a:prstGeom>
          <a:solidFill>
            <a:srgbClr val="8844FF"/>
          </a:solidFill>
          <a:ln w="12700">
            <a:solidFill>
              <a:srgbClr val="884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2980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control.cdc_watermark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18304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Project 3 — LSN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03136" y="2926080"/>
            <a:ext cx="2057400" cy="685800"/>
          </a:xfrm>
          <a:prstGeom prst="rect">
            <a:avLst/>
          </a:prstGeom>
          <a:solidFill>
            <a:srgbClr val="0F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03136" y="2926080"/>
            <a:ext cx="45720" cy="685800"/>
          </a:xfrm>
          <a:prstGeom prst="rect">
            <a:avLst/>
          </a:prstGeom>
          <a:solidFill>
            <a:srgbClr val="FF6644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94576" y="29809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control.processed_files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894576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Project 4 — Files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3730752"/>
            <a:ext cx="2057400" cy="685800"/>
          </a:xfrm>
          <a:prstGeom prst="rect">
            <a:avLst/>
          </a:prstGeom>
          <a:solidFill>
            <a:srgbClr val="0F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3730752"/>
            <a:ext cx="45720" cy="685800"/>
          </a:xfrm>
          <a:prstGeom prst="rect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7856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dbo.sales_orders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65760" y="4078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Shared source table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450592" y="3730752"/>
            <a:ext cx="2057400" cy="685800"/>
          </a:xfrm>
          <a:prstGeom prst="rect">
            <a:avLst/>
          </a:prstGeom>
          <a:solidFill>
            <a:srgbClr val="0F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50592" y="3730752"/>
            <a:ext cx="45720" cy="68580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42032" y="37856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dbo.sales_orders_sink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542032" y="4078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Project 1 sink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26864" y="3730752"/>
            <a:ext cx="2057400" cy="685800"/>
          </a:xfrm>
          <a:prstGeom prst="rect">
            <a:avLst/>
          </a:prstGeom>
          <a:solidFill>
            <a:srgbClr val="0F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26864" y="3730752"/>
            <a:ext cx="45720" cy="685800"/>
          </a:xfrm>
          <a:prstGeom prst="rect">
            <a:avLst/>
          </a:prstGeom>
          <a:solidFill>
            <a:srgbClr val="00E6A0"/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18304" y="37856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dbo.sales_orders_delta_sink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718304" y="4078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Project 2 sink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803136" y="3730752"/>
            <a:ext cx="2057400" cy="685800"/>
          </a:xfrm>
          <a:prstGeom prst="rect">
            <a:avLst/>
          </a:prstGeom>
          <a:solidFill>
            <a:srgbClr val="0F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03136" y="3730752"/>
            <a:ext cx="45720" cy="685800"/>
          </a:xfrm>
          <a:prstGeom prst="rect">
            <a:avLst/>
          </a:prstGeom>
          <a:solidFill>
            <a:srgbClr val="8844FF"/>
          </a:solidFill>
          <a:ln w="12700">
            <a:solidFill>
              <a:srgbClr val="8844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94576" y="37856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dbo.sales_orders_cdc_sink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894576" y="4078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Project 3 sink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AFF"/>
                </a:solidFill>
              </a:rPr>
              <a:t>01  |  WATERMARK-BASED INCREMENTAL LOAD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9C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Tracks the last loaded timestamp in a control table. Each pipeline run fetches only records newer than the stored watermark, then updates it after success.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PIPELINE FLOW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00A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LKP_GetOldWatermark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17373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2316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00A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LKP_GetNewWatermark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43400" y="17373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00A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CPY_IncrementalLoad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084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00AA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SP_UpdateWatermark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377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KEY QUERY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633472"/>
            <a:ext cx="41148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70048"/>
            <a:ext cx="3931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dbo.sales_orders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modified_date &gt;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'@{LKP_GetOldWatermark.last_loaded_time}'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modified_date &lt;=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'@{LKP_GetNewWatermark.new_watermark}'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23774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DETAILS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633472"/>
            <a:ext cx="4206240" cy="228600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633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</a:rPr>
              <a:t>Tracks by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2633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modified_date timestamp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889504"/>
            <a:ext cx="4206240" cy="228600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889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</a:rPr>
              <a:t>Watermark Update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28895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@formatDateTime(..., 'yyyy-MM-dd HH:mm:ss')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145536"/>
            <a:ext cx="4206240" cy="228600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1455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</a:rPr>
              <a:t>Sink Write Mode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31455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(append only)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401568"/>
            <a:ext cx="4206240" cy="228600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401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</a:rPr>
              <a:t>Control Table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3401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control.watermark_table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749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CAPABILITIES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005072"/>
            <a:ext cx="1600200" cy="274320"/>
          </a:xfrm>
          <a:prstGeom prst="rect">
            <a:avLst/>
          </a:prstGeom>
          <a:solidFill>
            <a:srgbClr val="00E6A0">
              <a:alpha val="15000"/>
            </a:srgbClr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A0"/>
                </a:solidFill>
              </a:rPr>
              <a:t>✓ INSERT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29968" y="4005072"/>
            <a:ext cx="1600200" cy="274320"/>
          </a:xfrm>
          <a:prstGeom prst="rect">
            <a:avLst/>
          </a:prstGeom>
          <a:solidFill>
            <a:srgbClr val="00E6A0">
              <a:alpha val="15000"/>
            </a:srgbClr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29968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A0"/>
                </a:solidFill>
              </a:rPr>
              <a:t>✓ UPDATE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85616" y="4005072"/>
            <a:ext cx="1600200" cy="274320"/>
          </a:xfrm>
          <a:prstGeom prst="rect">
            <a:avLst/>
          </a:prstGeom>
          <a:solidFill>
            <a:srgbClr val="F85149">
              <a:alpha val="15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85616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5149"/>
                </a:solidFill>
              </a:rPr>
              <a:t>✗ DELETE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41264" y="4005072"/>
            <a:ext cx="1600200" cy="274320"/>
          </a:xfrm>
          <a:prstGeom prst="rect">
            <a:avLst/>
          </a:prstGeom>
          <a:solidFill>
            <a:srgbClr val="00AAFF">
              <a:alpha val="1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41264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AFF"/>
                </a:solidFill>
              </a:rPr>
              <a:t>Tracks by: timestamp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96912" y="4005072"/>
            <a:ext cx="1600200" cy="274320"/>
          </a:xfrm>
          <a:prstGeom prst="rect">
            <a:avLst/>
          </a:prstGeom>
          <a:solidFill>
            <a:srgbClr val="FFB400">
              <a:alpha val="15000"/>
            </a:srgbClr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400"/>
                </a:solidFill>
              </a:rPr>
              <a:t>Low complexity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C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for tables with a reliable modified_date column. Append-only loads. Low to medium data volume.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0E6A0"/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6A0"/>
                </a:solidFill>
              </a:rPr>
              <a:t>02  |  DELTA COPY — LOOKUP + FILTER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9C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Captures a safe bounded range using two lookups — old MAX(id) and new MAX(id). No risk of duplicates mid-run. Ideal for append-only tables with auto-increment IDs.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PIPELINE FLOW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00E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LKP_GetOldWatermark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17373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2316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00E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LKP_GetNewWatermark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43400" y="17373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00E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CPY_DeltaLoad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084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00E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SP_UpdateDeltaWatermark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377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KEY QUERY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633472"/>
            <a:ext cx="41148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70048"/>
            <a:ext cx="3931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dbo.sales_orders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order_id &gt;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@{LKP_GetOldWatermark.last_id}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order_id &lt;=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@{LKP_GetNewWatermark.new_id}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23774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DETAILS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633472"/>
            <a:ext cx="4206240" cy="228600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633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</a:rPr>
              <a:t>Tracks by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2633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Auto-increment order_id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889504"/>
            <a:ext cx="4206240" cy="228600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889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</a:rPr>
              <a:t>Old watermark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28895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last_id FROM delta_watermark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145536"/>
            <a:ext cx="4206240" cy="228600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1455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</a:rPr>
              <a:t>New watermark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31455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MAX(order_id) AS new_id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401568"/>
            <a:ext cx="4206240" cy="228600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401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</a:rPr>
              <a:t>Control Table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3401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control.delta_watermark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749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CAPABILITIES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005072"/>
            <a:ext cx="1600200" cy="274320"/>
          </a:xfrm>
          <a:prstGeom prst="rect">
            <a:avLst/>
          </a:prstGeom>
          <a:solidFill>
            <a:srgbClr val="00E6A0">
              <a:alpha val="15000"/>
            </a:srgbClr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A0"/>
                </a:solidFill>
              </a:rPr>
              <a:t>✓ INSERT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29968" y="4005072"/>
            <a:ext cx="1600200" cy="274320"/>
          </a:xfrm>
          <a:prstGeom prst="rect">
            <a:avLst/>
          </a:prstGeom>
          <a:solidFill>
            <a:srgbClr val="F85149">
              <a:alpha val="15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29968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5149"/>
                </a:solidFill>
              </a:rPr>
              <a:t>✗ UPDATE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85616" y="4005072"/>
            <a:ext cx="1600200" cy="274320"/>
          </a:xfrm>
          <a:prstGeom prst="rect">
            <a:avLst/>
          </a:prstGeom>
          <a:solidFill>
            <a:srgbClr val="F85149">
              <a:alpha val="15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85616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5149"/>
                </a:solidFill>
              </a:rPr>
              <a:t>✗ DELETE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41264" y="4005072"/>
            <a:ext cx="1600200" cy="274320"/>
          </a:xfrm>
          <a:prstGeom prst="rect">
            <a:avLst/>
          </a:prstGeom>
          <a:solidFill>
            <a:srgbClr val="00AAFF">
              <a:alpha val="1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41264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AFF"/>
                </a:solidFill>
              </a:rPr>
              <a:t>Tracks by: ID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96912" y="4005072"/>
            <a:ext cx="1600200" cy="274320"/>
          </a:xfrm>
          <a:prstGeom prst="rect">
            <a:avLst/>
          </a:prstGeom>
          <a:solidFill>
            <a:srgbClr val="FFB400">
              <a:alpha val="15000"/>
            </a:srgbClr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400"/>
                </a:solidFill>
              </a:rPr>
              <a:t>Bounded range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C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for append-only tables (orders, events, logs) with auto-increment IDs. Safe bounded copy — no mid-run duplicate risk.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8844FF"/>
          </a:solidFill>
          <a:ln w="12700">
            <a:solidFill>
              <a:srgbClr val="884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44FF"/>
                </a:solidFill>
              </a:rPr>
              <a:t>03  |  CHANGE DATA CAPTURE (CDC)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9C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Reads row-level changes (INSERT, UPDATE, DELETE) directly from the SQL Server transaction log using LSN (Log Sequence Number). The only pattern that captures all 3 operations.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PIPELINE FLOW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884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LKP_GetLastLSN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17373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2316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884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LKP_GetCurrentLSN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43400" y="17373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884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CPY_CDCLoad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084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884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SP_UpdateCDCWatermark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377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KEY QUERY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633472"/>
            <a:ext cx="41148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70048"/>
            <a:ext cx="3931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order_id, customer_name,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__$operation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1 THEN 'DELETE'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2 THEN 'INSERT'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4 THEN 'UPDATE'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cdc_operation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cdc.fn_cdc_get_all_changes...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63440" y="23774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DETAILS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633472"/>
            <a:ext cx="4206240" cy="228600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633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</a:rPr>
              <a:t>Tracks by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2633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LSN (Log Sequence Number)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889504"/>
            <a:ext cx="4206240" cy="228600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889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</a:rPr>
              <a:t>DB Tier Required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28895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 S3 or higher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145536"/>
            <a:ext cx="4206240" cy="228600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1455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</a:rPr>
              <a:t>CDC Retention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31455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3 days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401568"/>
            <a:ext cx="4206240" cy="228600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401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</a:rPr>
              <a:t>Control Table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3401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control.cdc_watermark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749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CAPABILITIES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005072"/>
            <a:ext cx="1600200" cy="274320"/>
          </a:xfrm>
          <a:prstGeom prst="rect">
            <a:avLst/>
          </a:prstGeom>
          <a:solidFill>
            <a:srgbClr val="00E6A0">
              <a:alpha val="15000"/>
            </a:srgbClr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A0"/>
                </a:solidFill>
              </a:rPr>
              <a:t>✓ INSERT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29968" y="4005072"/>
            <a:ext cx="1600200" cy="274320"/>
          </a:xfrm>
          <a:prstGeom prst="rect">
            <a:avLst/>
          </a:prstGeom>
          <a:solidFill>
            <a:srgbClr val="00E6A0">
              <a:alpha val="15000"/>
            </a:srgbClr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29968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A0"/>
                </a:solidFill>
              </a:rPr>
              <a:t>✓ UPDATE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85616" y="4005072"/>
            <a:ext cx="1600200" cy="274320"/>
          </a:xfrm>
          <a:prstGeom prst="rect">
            <a:avLst/>
          </a:prstGeom>
          <a:solidFill>
            <a:srgbClr val="00E6A0">
              <a:alpha val="15000"/>
            </a:srgbClr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85616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A0"/>
                </a:solidFill>
              </a:rPr>
              <a:t>✓ DELETE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41264" y="4005072"/>
            <a:ext cx="1600200" cy="274320"/>
          </a:xfrm>
          <a:prstGeom prst="rect">
            <a:avLst/>
          </a:prstGeom>
          <a:solidFill>
            <a:srgbClr val="00AAFF">
              <a:alpha val="1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41264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AFF"/>
                </a:solidFill>
              </a:rPr>
              <a:t>Tracks by: LSN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96912" y="4005072"/>
            <a:ext cx="1600200" cy="274320"/>
          </a:xfrm>
          <a:prstGeom prst="rect">
            <a:avLst/>
          </a:prstGeom>
          <a:solidFill>
            <a:srgbClr val="FFB400">
              <a:alpha val="15000"/>
            </a:srgbClr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400"/>
                </a:solidFill>
              </a:rPr>
              <a:t>⚠ S3 tier req.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C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only pattern capturing DELETE operations. Requires CDC enabled at DB &amp; table level. Azure SQL Standard S3 or higher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F6644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644"/>
                </a:solidFill>
              </a:rPr>
              <a:t>04  |  FOREACH + GETMETADATA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9C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Lists all files in Blob/ADLS storage using GetMetadata, compares against a control table of processed files, and uses ForEach to process only new ones. Provides file-level audit trail.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PIPELINE FLOW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FF66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GMD_ListFiles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17373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2316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FF66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LKP_ProcessedFiles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43400" y="17373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FF66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FE_ProcessNewFiles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0840" y="1691640"/>
            <a:ext cx="192024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FF66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SP_MarkProcessed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377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INSIDE FOREACH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633472"/>
            <a:ext cx="859536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724912"/>
            <a:ext cx="246888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249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IF_IsNewFile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83280" y="2724912"/>
            <a:ext cx="246888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7249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CPY_NewFile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521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CB6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2724912"/>
            <a:ext cx="246888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7249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SP_MarkFileProcessed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3429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DETAILS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685032"/>
            <a:ext cx="8595360" cy="201168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Tracks by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48840" y="3685032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name in control.processed_files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904488"/>
            <a:ext cx="8595360" cy="201168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904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If Condition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48840" y="390448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@not(contains(processed_files, item().name))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123944"/>
            <a:ext cx="8595360" cy="201168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123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Parallel processing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148840" y="4123944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isSequential: false (runs files in parallel)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4343400"/>
            <a:ext cx="8595360" cy="201168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343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Reprocess file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148840" y="434340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record from control.processed_files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COMPARISON — ALL 4 PATTERNS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347472"/>
          </a:xfrm>
          <a:prstGeom prst="rect">
            <a:avLst/>
          </a:prstGeom>
          <a:solidFill>
            <a:srgbClr val="0F1F35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CB6"/>
                </a:solidFill>
              </a:rPr>
              <a:t>Feature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31720" y="777240"/>
            <a:ext cx="1645920" cy="347472"/>
          </a:xfrm>
          <a:prstGeom prst="rect">
            <a:avLst/>
          </a:prstGeom>
          <a:solidFill>
            <a:srgbClr val="0F1F35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777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AFF"/>
                </a:solidFill>
              </a:rPr>
              <a:t>01 Watermark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777240"/>
            <a:ext cx="1645920" cy="347472"/>
          </a:xfrm>
          <a:prstGeom prst="rect">
            <a:avLst/>
          </a:prstGeom>
          <a:solidFill>
            <a:srgbClr val="0F1F35"/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777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A0"/>
                </a:solidFill>
              </a:rPr>
              <a:t>02 Delta Copy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23560" y="777240"/>
            <a:ext cx="1645920" cy="347472"/>
          </a:xfrm>
          <a:prstGeom prst="rect">
            <a:avLst/>
          </a:prstGeom>
          <a:solidFill>
            <a:srgbClr val="0F1F35"/>
          </a:solidFill>
          <a:ln w="12700">
            <a:solidFill>
              <a:srgbClr val="884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777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44FF"/>
                </a:solidFill>
              </a:rPr>
              <a:t>03 CDC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69480" y="777240"/>
            <a:ext cx="1645920" cy="347472"/>
          </a:xfrm>
          <a:prstGeom prst="rect">
            <a:avLst/>
          </a:prstGeom>
          <a:solidFill>
            <a:srgbClr val="0F1F35"/>
          </a:solidFill>
          <a:ln w="12700">
            <a:solidFill>
              <a:srgbClr val="FF66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777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644"/>
                </a:solidFill>
              </a:rPr>
              <a:t>04 ForEach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161288"/>
            <a:ext cx="201168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612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6"/>
                </a:solidFill>
              </a:rPr>
              <a:t>Tracks INSERT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31720" y="1161288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11612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77640" y="1161288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1612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23560" y="1161288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1612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1161288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11612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1600200"/>
            <a:ext cx="201168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6002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6"/>
                </a:solidFill>
              </a:rPr>
              <a:t>Tracks UPDATE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31720" y="1600200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16002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77640" y="1600200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16002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23560" y="1600200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16002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69480" y="1600200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16002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(file)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039112"/>
            <a:ext cx="201168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0391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6"/>
                </a:solidFill>
              </a:rPr>
              <a:t>Tracks DELETE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31720" y="2039112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20391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✗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977640" y="2039112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20391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✗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23560" y="2039112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23560" y="20391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✓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69480" y="2039112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20391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✗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478024"/>
            <a:ext cx="201168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47802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6"/>
                </a:solidFill>
              </a:rPr>
              <a:t>Needs timestamp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331720" y="2478024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247802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✓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977640" y="2478024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77640" y="247802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✗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23560" y="2478024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23560" y="247802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✗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269480" y="2478024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480" y="247802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✗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2916936"/>
            <a:ext cx="201168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291693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6"/>
                </a:solidFill>
              </a:rPr>
              <a:t>Needs auto-ID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331720" y="2916936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31720" y="29169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✗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977640" y="2916936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77640" y="29169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✓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623560" y="2916936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23560" y="29169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✗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269480" y="2916936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69480" y="29169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✗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74320" y="3355848"/>
            <a:ext cx="201168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3355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6"/>
                </a:solidFill>
              </a:rPr>
              <a:t>Works on files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331720" y="3355848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31720" y="33558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✗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977640" y="3355848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77640" y="33558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✗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623560" y="3355848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23560" y="33558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✗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269480" y="3355848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69480" y="33558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✓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74320" y="3794760"/>
            <a:ext cx="201168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3794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6"/>
                </a:solidFill>
              </a:rPr>
              <a:t>DB tier required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331720" y="3794760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31720" y="37947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Any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977640" y="3794760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77640" y="37947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Any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623560" y="3794760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23560" y="37947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S3+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269480" y="3794760"/>
            <a:ext cx="1645920" cy="402336"/>
          </a:xfrm>
          <a:prstGeom prst="rect">
            <a:avLst/>
          </a:prstGeom>
          <a:solidFill>
            <a:srgbClr val="0F1F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69480" y="37947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Any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274320" y="4233672"/>
            <a:ext cx="201168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42336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6"/>
                </a:solidFill>
              </a:rPr>
              <a:t>Complexity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331720" y="4233672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331720" y="42336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Low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3977640" y="4233672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977640" y="42336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Low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623560" y="4233672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623560" y="42336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High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269480" y="4233672"/>
            <a:ext cx="1645920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69480" y="42336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A0"/>
                </a:solidFill>
              </a:rPr>
              <a:t>Medium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GITHUB REPOSITORY STRUCTURE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777240"/>
            <a:ext cx="4846320" cy="4023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8686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adf-incremental-dataload/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" y="11064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adf/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" y="13441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pipeline/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" y="158191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dataset/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" y="181965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linkedService/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" y="20574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01-watermark-based/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" y="229514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setup.sql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7784" y="253288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README.md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" y="27706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02-delta-copy-lookup-filter/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7784" y="300837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setup.sql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" y="32461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README.md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" y="348386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03-change-data-capture/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784" y="372160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setup.sql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" y="39593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README.md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" y="41970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94960" y="777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CB6"/>
                </a:solidFill>
              </a:rPr>
              <a:t>PROJECT SUMMARY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94960" y="1143000"/>
            <a:ext cx="3474720" cy="685800"/>
          </a:xfrm>
          <a:prstGeom prst="rect">
            <a:avLst/>
          </a:prstGeom>
          <a:solidFill>
            <a:srgbClr val="0F1F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40680" y="11887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AFF"/>
                </a:solidFill>
              </a:rPr>
              <a:t>4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080760" y="1307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Incremental Load Patterns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394960" y="1965960"/>
            <a:ext cx="3474720" cy="685800"/>
          </a:xfrm>
          <a:prstGeom prst="rect">
            <a:avLst/>
          </a:prstGeom>
          <a:solidFill>
            <a:srgbClr val="0F1F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40680" y="20116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AFF"/>
                </a:solidFill>
              </a:rPr>
              <a:t>3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6080760" y="2130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Projects Completed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394960" y="2788920"/>
            <a:ext cx="3474720" cy="685800"/>
          </a:xfrm>
          <a:prstGeom prst="rect">
            <a:avLst/>
          </a:prstGeom>
          <a:solidFill>
            <a:srgbClr val="0F1F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40680" y="2834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AFF"/>
                </a:solidFill>
              </a:rPr>
              <a:t>1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6080760" y="2953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Shared Source Table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94960" y="3611880"/>
            <a:ext cx="3474720" cy="685800"/>
          </a:xfrm>
          <a:prstGeom prst="rect">
            <a:avLst/>
          </a:prstGeom>
          <a:solidFill>
            <a:srgbClr val="0F1F35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40680" y="36576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AFF"/>
                </a:solidFill>
              </a:rPr>
              <a:t>2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6080760" y="3776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 Branches (main/dev)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" y="4480560"/>
            <a:ext cx="8595360" cy="384048"/>
          </a:xfrm>
          <a:prstGeom prst="rect">
            <a:avLst/>
          </a:prstGeom>
          <a:solidFill>
            <a:srgbClr val="0F1F35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4805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🐙  github.com/Acrenox/adf-incremental-dataload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5065776"/>
            <a:ext cx="2286000" cy="73152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0" y="5065776"/>
            <a:ext cx="2286000" cy="73152"/>
          </a:xfrm>
          <a:prstGeom prst="rect">
            <a:avLst/>
          </a:prstGeom>
          <a:solidFill>
            <a:srgbClr val="00E6A0"/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0" y="5065776"/>
            <a:ext cx="2286000" cy="73152"/>
          </a:xfrm>
          <a:prstGeom prst="rect">
            <a:avLst/>
          </a:prstGeom>
          <a:solidFill>
            <a:srgbClr val="8844FF"/>
          </a:solidFill>
          <a:ln w="12700">
            <a:solidFill>
              <a:srgbClr val="8844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0" y="5065776"/>
            <a:ext cx="2286000" cy="73152"/>
          </a:xfrm>
          <a:prstGeom prst="rect">
            <a:avLst/>
          </a:prstGeom>
          <a:solidFill>
            <a:srgbClr val="FF6644"/>
          </a:solidFill>
          <a:ln w="12700">
            <a:solidFill>
              <a:srgbClr val="FF664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ADF Incremental Data Load</dc:title>
  <dc:subject>PptxGenJS Presentation</dc:subject>
  <dc:creator>ADF Incremental Dataload Project</dc:creator>
  <cp:lastModifiedBy>ADF Incremental Dataload Project</cp:lastModifiedBy>
  <cp:revision>1</cp:revision>
  <dcterms:created xsi:type="dcterms:W3CDTF">2026-03-03T07:19:04Z</dcterms:created>
  <dcterms:modified xsi:type="dcterms:W3CDTF">2026-03-03T07:19:04Z</dcterms:modified>
</cp:coreProperties>
</file>